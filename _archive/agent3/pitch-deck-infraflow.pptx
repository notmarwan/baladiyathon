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EA5E9"/>
                </a:solidFill>
                <a:latin typeface="Calibri"/>
              </a:defRPr>
            </a:pPr>
            <a:r>
              <a:t>InfraFlow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AI-Powered Excavation Coordination &amp; Traffic Impact Forecaster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Baladiyathon 2026 — Challenge 3: Infrastructure Traffic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Ministry of Municipalities and Housing (MOMRAH) | July 27–28,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PROBLEM: Excavation Chaos in Saudi Cities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Uncoordinated infrastructure digs cause cascading gridlock across all major Saudi cities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2120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The Coordination Gap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Multiple utilities (SEC, NWC, STC) dig independently on same roads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No unified scheduling platform across 17 municipalities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Same road segment excavated, repaved, re-excavated weeks apart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Contractors routinely overstay permitted windows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No automated conflict detection between overlapping permits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502920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The Congestion Cost (Riyadh)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43.7% average congestion level (TomTom 2025)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90.4% evening rush hour congestion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66 hours lost per driver per year in traffic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10km evening drive takes 24 min (vs. ~12 min free-flow)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Average rush hour speed: only 28.5 km/h in city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Source: TomTom Traffic Index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1069848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Why This Matters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Riyadh alone: 627,000 km total road network; major corridors as choke points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Vision 2030 megaprojects (NEOM, ROSHN, Diriyah Gate, Qiddiya) drive unprecedented construction volume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MOMRAH hackathon directly targets this: analyze infrastructure impact on traffic flow, suggest reroutes, predict congestion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No existing Saudi system integrates permit scheduling with predictive traffic simulation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INFRAFLOW: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 5-step AI pipeline from permit submission to optimal scheduling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01168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3600" b="1">
                <a:solidFill>
                  <a:srgbClr val="0EA5E9"/>
                </a:solidFill>
              </a:defRPr>
            </a:pPr>
            <a:r>
              <a:t>1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DRAW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Engineer draws closure zone on interactive map; enters lanes closed, duration, work hours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828800"/>
            <a:ext cx="201168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3600" b="1">
                <a:solidFill>
                  <a:srgbClr val="0EA5E9"/>
                </a:solidFill>
              </a:defRPr>
            </a:pPr>
            <a:r>
              <a:t>2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SIMULATE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SUMO microscopic traffic engine runs scenario and forecasts queue, delay, spillover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1828800"/>
            <a:ext cx="201168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3600" b="1">
                <a:solidFill>
                  <a:srgbClr val="0EA5E9"/>
                </a:solidFill>
              </a:defRPr>
            </a:pPr>
            <a:r>
              <a:t>3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DETECT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AI scheduler checks for conflicting permits on same corridor and flags overlaps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201168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3600" b="1">
                <a:solidFill>
                  <a:srgbClr val="0EA5E9"/>
                </a:solidFill>
              </a:defRPr>
            </a:pPr>
            <a:r>
              <a:t>4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OPTIMIZE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Multi-objective genetic algorithm finds least-harmful time window; suggests reroutes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9760" y="1828800"/>
            <a:ext cx="201168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3600" b="1">
                <a:solidFill>
                  <a:srgbClr val="0EA5E9"/>
                </a:solidFill>
              </a:defRPr>
            </a:pPr>
            <a:r>
              <a:t>5</a:t>
            </a:r>
          </a:p>
          <a:p>
            <a:pPr algn="ctr"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COORDINATE</a:t>
            </a:r>
          </a:p>
          <a:p>
            <a:pPr algn="ctr">
              <a:defRPr sz="1000">
                <a:solidFill>
                  <a:srgbClr val="94A3B8"/>
                </a:solidFill>
              </a:defRPr>
            </a:pPr>
            <a:r>
              <a:t>All stakeholders see shared calendar; municipality issues permit with confidence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4747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Frontend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React 19 + TypeScript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Tailwind CSS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Leaflet.js + Leaflet.Heat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Leaflet.Draw (closure tool)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Arabic/English bilingual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1371600"/>
            <a:ext cx="347472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Backend &amp; Simulation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FastAPI (Python 3.12+)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Eclipse SUMO 1.27.1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OSMnx + NetworkX (routing)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Docker containerized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TraCI Python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0" y="1371600"/>
            <a:ext cx="329184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AI &amp; Optimization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ML: XGBoost for prediction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Genetic Algorithm: NSGA-II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Graph: Yen k-Shortest Paths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LLM: Arabic impact reports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Conflict detection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31920"/>
            <a:ext cx="521208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Data Sources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OpenStreetMap (road network)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TomTom Traffic API (real-time + historical)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Google Maps API (directions)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Balady platform (permit data)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MOMRAH Open Data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Saudi Open Data Portal (data.gov.sa)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931920"/>
            <a:ext cx="530352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Why SUMO?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Open source (EPL 2.0) - zero licensing cost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Microscopic simulation (individual vehicles)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Native OpenStreetMap import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25+ years, used in EU projects (COLOMBO, CityMobil)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Python TraCI API for full programmatic control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Proven at scale: 100k+ edge networks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Containerized microservices, deployable to MOMRAH cloud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418320" cy="64008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React Frontend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Map Canvas (Leaflet) | Permit Panel | Impact Dashboard | Arabic/English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606040"/>
            <a:ext cx="9418320" cy="64008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REST API Layer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FastAPI -- Async endpoints for simulation, scheduling, routing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383280"/>
            <a:ext cx="9418320" cy="64008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SUMO Engine (Docker)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netconvert -&gt; sumo (CLI) -&gt; TraCI API -&gt; XML output parser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160520"/>
            <a:ext cx="9418320" cy="640080"/>
          </a:xfrm>
          <a:prstGeom prst="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Scheduler Service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Conflict detector -&gt; Genetic Algorithm optimizer -&gt; Shared calendar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937759"/>
            <a:ext cx="9418320" cy="64008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Route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OSMnx + NetworkX -&gt; k-Shortest Paths -&gt; Alternative route ranking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714999"/>
            <a:ext cx="9418320" cy="640080"/>
          </a:xfrm>
          <a:prstGeom prst="rect">
            <a:avLst/>
          </a:prstGeom>
          <a:solidFill>
            <a:srgbClr val="1E293B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400" b="1">
                <a:solidFill>
                  <a:srgbClr val="94A3B8"/>
                </a:solidFill>
              </a:defRPr>
            </a:pPr>
            <a:r>
              <a:t>Data Layer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OSM Road Network (.osm.pbf) | TomTom Traffic API | Permit DB (PostgreSQL + PostGIS)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DEMO SCENARIO: King Fahd Road, Riyadh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Realistic simulation of a water main replacement on Riyadh central arterial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2120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Scenario Setup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Location: King Fahd Road, central Riyadh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Closure: 300m segment, 2 of 4 lanes closed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Duration: 3 days, 6 AM to 6 PM work hours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Utility: National Water Company (NWC) main replacement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50292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Simulation Results (SUMO)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Avg. delay per vehicle: 23 minutes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Queue length at 8 AM peak: 4.2 km northbound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Vehicles affected per day: ~12,400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Spillover radius: 1.8 km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49039"/>
            <a:ext cx="521208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Conflict Detected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SEC cable work on same road, 800m north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Overlapping dates: Jul 25-28 vs. Jul 27-29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Recommend: Stagger SEC work by 3+ days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Savings: ~3,400 vehicle-hours of delay avoided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749039"/>
            <a:ext cx="5029200" cy="1645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Alternative Route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Divert via Prince Turki bin Abdulaziz Al Awwal Rd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Detour adds only 7 min vs. 23 min saved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Adjust traffic signal timing on diversion route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Real-time nav integration (Waze/Google Maps)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JUDGES PICK INFRAFLOW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Measurable impact, proven tech, direct Vision 2030 alignment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106984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Challenge Fit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Directly solves MOMRAH problem: simulate traffic impact of closures, suggest reroutes, predict congestion with quantifiable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514600"/>
            <a:ext cx="106984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Innovation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First-in-KSA integration of microscopic traffic simulation (SUMO) with municipal permit systems; AI-powered schedule de-confliction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106984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Feasibility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Built on mature open-source tools (25+ yr track record); demonstrable MVP in 48 hours; deployable as Docker containers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069080"/>
            <a:ext cx="106984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Impact &amp; Sustainability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Per-city: 50-200 conflicting digs prevented annually; thousands of vehicle-hours saved; scalable to all 17 municipalities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106984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300" b="1">
                <a:solidFill>
                  <a:srgbClr val="0EA5E9"/>
                </a:solidFill>
              </a:defRPr>
            </a:pPr>
            <a:r>
              <a:t>Prototype Quality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Interactive map with closure drawing, congestion heatmap, alternative route overlay, conflict alerts, Arabic/English UI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623559"/>
            <a:ext cx="1069848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Presentation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Clear value proposition; before/after metrics; government-ready design; leverages AI + IoT + AR technologies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IDEA CARD -- Ready to Submit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Challenge 3 | Emerging Tech: AI | Attachments: Pitch Deck, Architecture Diagram, Prototype Screenshot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30352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English (EN)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Idea Name: InfraFlow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AI-Powered Excavation Coordination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&amp; Traffic Impact Forecaster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InfraFlow is an AI platform that helps Saudi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municipalities coordinate infrastructure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excavation projects and minimize traffic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disruption. Municipal engineers draw closure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zones on an interactive map. InfraFlow runs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microscopic traffic simulation (SUMO) to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forecast congestion impact as a heatmap.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The AI scheduler detects conflicting permits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and recommends optimal timing. Alternative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routes are computed. Result: fewer conflicting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digs, less congestion, Vision 2030 alignment.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Arabic (AR)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اسم الفكرة: انسياب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منصة ذكية لتنسيق أعمال الحفر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وتحليل تأثيرها المروري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انسياب منصة ذكاء اصطناعي تساعد الأمانات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السعودية على تنسيق مشاريع الحفر وتقليل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الازدحام المروري. يرسم المهندس البلدي منطقة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الإغلاق على خريطة تفاعلية. يشغل النظام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محاكاة مرورية مجهرية (SUMO) تتوقع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التأثير المروري كخريطة حرارية. يتحقق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المجدول الذكي من تعارض التصاريح ويقترح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التوقيت الأمثل ومسارات بديلة. النتيجة: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حفريات أقل تعارضا ومواءمة مع رؤية 2030.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EA5E9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InfraFlow -- Dig Smarter. Keep Cities Moving.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Baladiyathon 2026 | Challenge 3 | momah.gov.sa/ar/hackathon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Digital_Innov@momah.gov.sa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